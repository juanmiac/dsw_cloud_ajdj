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en dos partes: 1) instalación del entorno de desarrollo; 2) organización del proyecto Cloud 9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Versiones según la memoria del entorno (PDF de instalación). Node.js: la tabla indica v24.12.0 y la captura de terminal muestra v24.21.0.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Cloud 9 Systems · UT1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uanMiAc/DSW_CLOUD_AJDJ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960120"/>
            <a:ext cx="301752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Logo Cloud 9 Syste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143000"/>
            <a:ext cx="2651760" cy="16714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0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UT1 · Desarrollo Web en Entorno Servidor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9 Systems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Entorno de desarrollo y organización del proyecto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8BDF8"/>
                </a:solidFill>
              </a:rPr>
              <a:t>Engineering your cloud.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Yoel Bautista · Ángel León · Juan Millet · Damián Pérez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CIFP Villa de Agüimes · 2º DAW · Curso 2026/27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PARTE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del entorno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Ocho fases, del 25/09 al 04/10/2026, hasta ver Laravel funcionando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3306E"/>
          </a:solidFill>
          <a:ln w="12700">
            <a:solidFill>
              <a:srgbClr val="2A4A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42316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B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Ubuntu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26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Operativo el 25/09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2860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3306E"/>
          </a:solidFill>
          <a:ln w="12700">
            <a:solidFill>
              <a:srgbClr val="2A4A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242316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9748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B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VS Code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926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Operativo el 26/09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3306E"/>
          </a:solidFill>
          <a:ln w="12700">
            <a:solidFill>
              <a:srgbClr val="2A4A9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42316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091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B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2926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Operativo el 28/09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22860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3306E"/>
          </a:solidFill>
          <a:ln w="12700">
            <a:solidFill>
              <a:srgbClr val="2A4A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242316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208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B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Composer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2926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Operativo el 29/09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3306E"/>
          </a:solidFill>
          <a:ln w="12700">
            <a:solidFill>
              <a:srgbClr val="2A4A9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65760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B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 y GitHub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Operativo el 01/10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60320" y="352044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3306E"/>
          </a:solidFill>
          <a:ln w="12700">
            <a:solidFill>
              <a:srgbClr val="2A4A9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7480" y="365760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6974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B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15468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Node y npm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269748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Operativo el 02/10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352044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3306E"/>
          </a:solidFill>
          <a:ln w="12700">
            <a:solidFill>
              <a:srgbClr val="2A4A9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65760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0916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B"/>
                </a:solidFill>
              </a:rPr>
              <a:t>7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16636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MariaDB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470916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Operativo el 03/10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83680" y="352044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3306E"/>
          </a:solidFill>
          <a:ln w="12700">
            <a:solidFill>
              <a:srgbClr val="2A4A9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365760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2084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B"/>
                </a:solidFill>
              </a:rPr>
              <a:t>8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17804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Laravel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72084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Operativo el 04/10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hemos instalado: versiones verificadas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Versión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Verificación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Ubuntu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26.04.1 LTS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lsb_release -a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Visual Studio Code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1.140.0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code --version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PHP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8.5.4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php -v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Composer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2.9.5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composer --version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Git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2.53.0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--version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Node.js / npm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v24 / 11.19.0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node -v · npm -v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MariaDB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11.8.6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mysql --version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Laravel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13.33.0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php artisan --version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05156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16752" y="116128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Máquina virtual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016752" y="1508760"/>
            <a:ext cx="250545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VirtualBox sobre Ubuntu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2 CPU · 4 GB de RAM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Red NAT: 10.0.2.15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Equipo: jumiac-VirtualBox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Instalación limpia desde ISO oficial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desde la terminal</a:t>
            </a:r>
            <a:endParaRPr lang="en-US" sz="2800" dirty="0"/>
          </a:p>
        </p:txBody>
      </p:sp>
      <p:pic>
        <p:nvPicPr>
          <p:cNvPr id="3" name="Image 0" descr="Terminal con versiones de Ubuntu, PHP, Composer, Git, Node y np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477"/>
            <a:ext cx="5120640" cy="34743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477"/>
            <a:ext cx="5120640" cy="3474327"/>
          </a:xfrm>
          <a:prstGeom prst="rect">
            <a:avLst/>
          </a:prstGeom>
          <a:ln w="12700">
            <a:solidFill>
              <a:srgbClr val="D5E0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16752" y="116128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Primer paso: Ubuntu al día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016752" y="1508760"/>
            <a:ext cx="25054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upgrade -y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Repositorios sincronizados y paquetes actualizados antes de instalar nada más.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Studio Code: el IDE del proyecto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Extensión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 qué sirve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¿Obligatoria?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PHP IntelliSense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Autocompletado y navegación de código PHP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</a:rPr>
                        <a:t>Obligatoria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Laravel Artisan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Ejecuta comandos Artisan desde VS Code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Opcional (recomendada)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Laravel Blade Snippets / Formatter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Resaltado y formateo de vistas .blade.php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</a:rPr>
                        <a:t>Obligatoria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10896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3218688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Terminal integrada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3566160"/>
            <a:ext cx="3648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Lanza php artisan serve, migraciones y genera modelos, servicios y controladores sin salir del editor.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09160" y="310896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73752" y="3218688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Git integrado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73752" y="3566160"/>
            <a:ext cx="3648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Comandos rápidos en terminal (pull, add, commit) y vista diff para revisar y resolver conflictos antes de subir.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8.5.4 y Composer 2.9.5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16128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php-mbstring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0876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Texto multibyte: tildes e idiomas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97480" y="105156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62072" y="116128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php-xml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150876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Documentos XML para Laravel y Composer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53288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php-mysql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88036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Driver PDO para MariaDB/MySQL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97480" y="242316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62072" y="253288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php-curl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862072" y="288036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Peticiones HTTP externas, p. ej. API de 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Comprobación: php -m | grep mbstring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10515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85232" y="116128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PHP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85232" y="150876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Lenguaje que se ejecuta en el servidor y entrega HTML al navegador. Laravel es el framework construido encima.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20640" y="24231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85232" y="253288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Composer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285232" y="288036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Gestor de dependencias de PHP: descarga paquetes y los carga con su autoload.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37947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85232" y="390448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Cadena de dependencia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85232" y="4251960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PHP → Composer → Laravel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y GitHub: repositorio compartido</a:t>
            </a:r>
            <a:endParaRPr lang="en-US" sz="28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2563E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github.com/JuanMiAc/DSW_CLOUD_AJDJ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Rama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Finalidad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Código estable de producción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Activa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rama_develop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Integración de funcionalidades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En desarrollo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rama_test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Pruebas antes de pasar a main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En pruebas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rama_juan_bd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Modelado y bases de datos (Juan)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Activa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feature/entorno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Configuración inicial de la VM (Damián)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Fusionada y cerrada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Ramas en GitHu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2499"/>
            <a:ext cx="2926080" cy="128124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0720" y="1462499"/>
            <a:ext cx="2926080" cy="1281242"/>
          </a:xfrm>
          <a:prstGeom prst="rect">
            <a:avLst/>
          </a:prstGeom>
          <a:ln w="12700">
            <a:solidFill>
              <a:srgbClr val="D5E0F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760720" y="2880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2"/>
                </a:solidFill>
              </a:rPr>
              <a:t>Ramas activas en GitHub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5760720" y="3291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Acceso: público · profesor con acceso · 4 miembros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Node.js, npm y Vite: el frontend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16128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Node.js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08760"/>
            <a:ext cx="2276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Laravel corre en PHP, pero el entorno necesita Node para compilar los recursos de la interfaz.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68980" y="10515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33572" y="116128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npm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33572" y="1508760"/>
            <a:ext cx="2276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Gestor de paquetes de Node. Instala librerías JavaScript y CSS (Tailwind, Bootstrap...).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0515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45352" y="116128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Vite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1508760"/>
            <a:ext cx="2276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Empaqueta el frontend y recarga el navegador al guardar cambios.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375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lista las dependencias y versiones exactas del frontend.   </a:t>
            </a:r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npm 11.19.0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· Node.js </a:t>
            </a:r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v24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MariaDB 11.8.6: base de datos operativa</a:t>
            </a:r>
            <a:endParaRPr lang="en-US" sz="2800" dirty="0"/>
          </a:p>
        </p:txBody>
      </p:sp>
      <p:pic>
        <p:nvPicPr>
          <p:cNvPr id="3" name="Image 0" descr="systemctl status mariad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66487"/>
            <a:ext cx="4023360" cy="1250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66487"/>
            <a:ext cx="4023360" cy="1250307"/>
          </a:xfrm>
          <a:prstGeom prst="rect">
            <a:avLst/>
          </a:prstGeom>
          <a:ln w="12700">
            <a:solidFill>
              <a:srgbClr val="D5E0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24231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2"/>
                </a:solidFill>
              </a:rPr>
              <a:t>sudo systemctl status mariadb → active (running)</a:t>
            </a:r>
            <a:endParaRPr lang="en-US" sz="1000" dirty="0"/>
          </a:p>
        </p:txBody>
      </p:sp>
      <p:pic>
        <p:nvPicPr>
          <p:cNvPr id="6" name="Image 1" descr="Variables de MariaDB: puerto 330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67906"/>
            <a:ext cx="4023360" cy="17046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63440" y="1067906"/>
            <a:ext cx="4023360" cy="1704668"/>
          </a:xfrm>
          <a:prstGeom prst="rect">
            <a:avLst/>
          </a:prstGeom>
          <a:ln w="12700">
            <a:solidFill>
              <a:srgbClr val="D5E0F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663440" y="2880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2"/>
                </a:solidFill>
              </a:rPr>
              <a:t>Puerto 3306 · usuario root@localhost · bases del sistema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7200" y="32004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1792" y="331012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Conexión desde Laravel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21792" y="3657600"/>
            <a:ext cx="369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Se configura en el fichero .env (driver mysql, puerto 3306). Las tablas se crearán con migraciones.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66344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828032" y="335584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El fichero .env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828032" y="3703320"/>
            <a:ext cx="3694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Guarda credenciales y claves del entorno local. Cambia entre desarrollo y producción y no se sube a Git.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Laravel 13.33.0 funcionando</a:t>
            </a:r>
            <a:endParaRPr lang="en-US" sz="2800" dirty="0"/>
          </a:p>
        </p:txBody>
      </p:sp>
      <p:pic>
        <p:nvPicPr>
          <p:cNvPr id="3" name="Image 0" descr="Página de bienvenida de Laravel en 127.0.0.1:80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6763"/>
            <a:ext cx="4846320" cy="26499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06763"/>
            <a:ext cx="4846320" cy="2649914"/>
          </a:xfrm>
          <a:prstGeom prst="rect">
            <a:avLst/>
          </a:prstGeom>
          <a:ln w="12700">
            <a:solidFill>
              <a:srgbClr val="D5E0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7033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2"/>
                </a:solidFill>
              </a:rPr>
              <a:t>Pantalla de bienvenida en http://127.0.0.1:8000</a:t>
            </a:r>
            <a:endParaRPr lang="en-US" sz="1000" dirty="0"/>
          </a:p>
        </p:txBody>
      </p:sp>
      <p:pic>
        <p:nvPicPr>
          <p:cNvPr id="6" name="Image 1" descr="Ruta /dsw con el entorno funcionan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55" y="3977640"/>
            <a:ext cx="3106010" cy="731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327355" y="3977640"/>
            <a:ext cx="3106010" cy="731520"/>
          </a:xfrm>
          <a:prstGeom prst="rect">
            <a:avLst/>
          </a:prstGeom>
          <a:ln w="12700">
            <a:solidFill>
              <a:srgbClr val="D5E0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577840" y="1005840"/>
            <a:ext cx="3108960" cy="1645920"/>
          </a:xfrm>
          <a:prstGeom prst="roundRect">
            <a:avLst>
              <a:gd name="adj" fmla="val 4444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742432" y="1115568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Creación del proyecto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742432" y="1463040"/>
            <a:ext cx="2779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create-project laravel/laravel proyecto-laravel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577840" y="278892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742432" y="2898648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Ruta de comprobación /dsw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742432" y="3246120"/>
            <a:ext cx="2779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Ruta → controlador → vista Blade → HTML. Muestra el mensaje «Entorno DSW funcionando correctamente.» con las versiones de PHP y Laravel.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inicial del repositorio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161288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.env nunca se sube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08760"/>
            <a:ext cx="3648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Contiene contraseñas de BD, API keys de la IA y la APP_KEY que cifra sesiones y cookies. Si se filtra, hay accesos falsos y costes por uso fraudulento.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73752" y="1161288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.env.example como plantilla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1508760"/>
            <a:ext cx="3648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Solo nombres de variables, sin secretos. Un compañero lo copia a .env y pone sus propios datos.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914400"/>
        </p:xfrm>
        <a:graphic>
          <a:graphicData uri="http://schemas.openxmlformats.org/drawingml/2006/table">
            <a:tbl>
              <a:tblPr/>
              <a:tblGrid>
                <a:gridCol w="621792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Comprobación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.env está en .gitignore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</a:rPr>
                        <a:t>Sí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Sin contraseñas, tokens ni claves privadas en el repo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</a:rPr>
                        <a:t>Comprobado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.env.example sin secretos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</a:rPr>
                        <a:t>Comprobado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Procedimiento de reproducción</a:t>
            </a:r>
            <a:endParaRPr lang="en-US" sz="2800" dirty="0"/>
          </a:p>
        </p:txBody>
      </p:sp>
      <p:pic>
        <p:nvPicPr>
          <p:cNvPr id="3" name="Image 0" descr="Estructura del repositorio con tree -L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0269"/>
            <a:ext cx="3566160" cy="234302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0269"/>
            <a:ext cx="3566160" cy="2343023"/>
          </a:xfrm>
          <a:prstGeom prst="rect">
            <a:avLst/>
          </a:prstGeom>
          <a:ln w="12700">
            <a:solidFill>
              <a:srgbClr val="D5E0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97680" y="103327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297680" y="1033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70916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sudo apt update &amp;&amp; sudo apt upgrade -y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0" y="143560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9768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14081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sudo snap install --classic code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837944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297680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18105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sudo apt install -y php-cli php-mbstring php-xml php-curl php-mysql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97680" y="224028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29768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709160" y="22128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Instalar Composer en /usr/local/bin/composer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97680" y="264261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9768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709160" y="261518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sudo apt install git -y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97680" y="304495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29768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709160" y="30175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sudo apt install nodejs npm -y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297680" y="344728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297680" y="3447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709160" y="34198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sudo apt install mariadb-server -y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97680" y="3849624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29768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709160" y="38221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Crear la base de datos proyecto_laravel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297680" y="425196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29768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709160" y="42245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composer create-project laravel/laravel proyecto-laravel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Incidencias y conclusiones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01752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Incidencia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Causa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Solución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php artisan: «Could not open input file»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Comando lanzado fuera de la carpeta del proyecto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cd proyecto-laravel y repetir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free - h muestra la ayuda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Espacio de más entre guion y parámetro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Escribir free -h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apt bloqueado al actualizar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Actualizaciones automáticas en segundo plano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Esperar unos minutos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06324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E3EEFF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3172968"/>
            <a:ext cx="7900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El entorno está listo para la UT2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3520440"/>
            <a:ext cx="7900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PHP, Composer, Node, MariaDB y Git verificados por terminal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Repositorio compartido operativo y ruta /dsw respondiendo en local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Aún sin funcionalidades: la codificación empieza en la UT2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PARTE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del proyecto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Plataforma de simulación de infraestructura Cloud con asistente de 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3306E"/>
          </a:solidFill>
          <a:ln w="12700">
            <a:solidFill>
              <a:srgbClr val="2A4A9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El problema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Diseñar y presupuestar una infraestructura Cloud es complejo para usuarios no expertos y PYMEs: recursos, costes y compatibilidad.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219456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3306E"/>
          </a:solidFill>
          <a:ln w="12700">
            <a:solidFill>
              <a:srgbClr val="2A4A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La solución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7889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Una web Laravel que traduce requisitos en una propuesta de servidores, BD, redes y backups, y genera un presupuesto simulado.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219456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3306E"/>
          </a:solidFill>
          <a:ln w="12700">
            <a:solidFill>
              <a:srgbClr val="2A4A9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La clave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7889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La IA solo recomienda. Laravel valida compatibilidades, aplica tarifas y controla el presupuesto de 50 €/mes.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trabajamos: ramas, commits y Pull Requests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feature/…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Tarea concreta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188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06040" y="10515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rama_develop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Integración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188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rama_test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Pruebas (QA)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1188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903720" y="10515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Producción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Nueva funcionalidad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feat(auth): login con dos factores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fix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Corrección de un error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fix(user): validar el correo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Solo documentación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docs(readme): instrucciones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refactor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Mejora sin cambiar el comportamiento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optimizar consulta Eloquent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852160" y="2194560"/>
            <a:ext cx="2834640" cy="2423160"/>
          </a:xfrm>
          <a:prstGeom prst="roundRect">
            <a:avLst>
              <a:gd name="adj" fmla="val 3019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16752" y="230428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Reglas de Pull Request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016752" y="2651760"/>
            <a:ext cx="25054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main y develop protegidas: sin push directo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Nadie fusiona su propio PR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Aprobación de otro integrante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composer audit y npm audit antes de integrar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cuatro actores del sistema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Actor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Objetivo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Privilegio exclusivo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Cliente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Pedir presupuestos, seguir sus proyectos y pagar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Único que inicia pagos y valora el servicio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Arquitecto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Diseñar y planificar el desarrollo técnico de los proyectos asignados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Sube planos y diagramas de arquitectura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Auditor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Supervisar procesos, seguridad y cumplimiento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Acceso de solo lectura a logs e informes de cumplimiento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Administrador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Gestionar usuarios, roles y la seguridad de la plataforma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Único que da de alta/baja usuarios y cambia la configuración global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2"/>
                </a:solidFill>
              </a:rPr>
              <a:t>Un usuario solo tiene un rol activo a la vez (control de acceso por roles, RBAC).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funcional: 12 módulos</a:t>
            </a:r>
            <a:endParaRPr lang="en-US" sz="2800" dirty="0"/>
          </a:p>
        </p:txBody>
      </p:sp>
      <p:pic>
        <p:nvPicPr>
          <p:cNvPr id="3" name="Image 0" descr="Diagrama del mapa funcional del sistema Cloud Simul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542" y="960120"/>
            <a:ext cx="3229796" cy="37490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2542" y="960120"/>
            <a:ext cx="3229796" cy="3749040"/>
          </a:xfrm>
          <a:prstGeom prst="rect">
            <a:avLst/>
          </a:prstGeom>
          <a:ln w="12700">
            <a:solidFill>
              <a:srgbClr val="D5E0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0" y="100584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54880" y="1078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Gestión y diseño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3716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1 Usuarios   ·   2 Catálogo   ·   3 Proveedores/regiones   ·   4 Proyectos   ·   5 Requerimientos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26974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2770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Transaccional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3063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6 Arquitecturas   ·   7 Carrito   ·   8 Presupuestos   ·   9 Pedidos   ·   10 Pagos   ·   11 Despliegues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38404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</a:rPr>
              <a:t>Transversal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12 Auditoría / 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(registra todo el sistema)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MVC y ciclo de una petición</a:t>
            </a:r>
            <a:endParaRPr lang="en-US" sz="2800" dirty="0"/>
          </a:p>
        </p:txBody>
      </p:sp>
      <p:pic>
        <p:nvPicPr>
          <p:cNvPr id="3" name="Image 0" descr="Arquitectura MVC de Larav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641" y="960120"/>
            <a:ext cx="3918478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9641" y="960120"/>
            <a:ext cx="3918478" cy="3200400"/>
          </a:xfrm>
          <a:prstGeom prst="rect">
            <a:avLst/>
          </a:prstGeom>
          <a:ln w="12700">
            <a:solidFill>
              <a:srgbClr val="D5E0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2062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2"/>
                </a:solidFill>
              </a:rPr>
              <a:t>Capas: ruta y middleware → controlador → modelo / servicio / vista</a:t>
            </a:r>
            <a:endParaRPr lang="en-US" sz="1000" dirty="0"/>
          </a:p>
        </p:txBody>
      </p:sp>
      <p:pic>
        <p:nvPicPr>
          <p:cNvPr id="6" name="Image 1" descr="Ciclo de la petición GET /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471" y="960120"/>
            <a:ext cx="3334738" cy="320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53471" y="960120"/>
            <a:ext cx="3334738" cy="3200400"/>
          </a:xfrm>
          <a:prstGeom prst="rect">
            <a:avLst/>
          </a:prstGeom>
          <a:ln w="12700">
            <a:solidFill>
              <a:srgbClr val="D5E0F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754880" y="4206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2"/>
                </a:solidFill>
              </a:rPr>
              <a:t>GET / → index.php → autoload → bootstrap → rutas → vista Blade → 200 OK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conceptual de datos: 13 entidades</a:t>
            </a:r>
            <a:endParaRPr lang="en-US" sz="2800" dirty="0"/>
          </a:p>
        </p:txBody>
      </p:sp>
      <p:pic>
        <p:nvPicPr>
          <p:cNvPr id="3" name="Image 0" descr="Diagrama entidad-relación conceptu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667" y="960120"/>
            <a:ext cx="4379065" cy="37490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3667" y="960120"/>
            <a:ext cx="4379065" cy="3749040"/>
          </a:xfrm>
          <a:prstGeom prst="rect">
            <a:avLst/>
          </a:prstGeom>
          <a:ln w="12700">
            <a:solidFill>
              <a:srgbClr val="D5E0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03520" y="105156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68112" y="11612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Núcleo comercial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68112" y="150876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Usuarios, Carrito y Pedidos: cuentas, selección temporal de recursos y orden de contratación.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03520" y="283464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EEF4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68112" y="294436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Núcleo técnico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68112" y="329184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Servidor es el centro: se relaciona con Catálogo, Redes, Almacenamiento, Bases de datos, Backup, Monitorización y Servicio IA.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principales y medidas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651760"/>
                <a:gridCol w="731520"/>
                <a:gridCol w="822960"/>
                <a:gridCol w="3474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Riesgo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Prob.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Medida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R01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Credenciales o claves en el repositorio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</a:rPr>
                        <a:t>Alto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.gitignore, .env.example y revisión de PR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R04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Accesos no autorizados según el rol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</a:rPr>
                        <a:t>Alto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RBAC con middleware, Gates y Policies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R06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Vulnerabilidades en dependencias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</a:rPr>
                        <a:t>Alto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composer audit y npm audit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R07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Datos de usuario mal tratados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</a:rPr>
                        <a:t>Alto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Form Requests, Eloquent, CSRF y XSS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R08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Recomendaciones erróneas de la 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Medio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Validar la respuesta JSON contra el catálogo real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R10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Pérdida de trazabilidad de cambios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Medio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Audit Log: usuario, acción, IP y valores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2"/>
                </a:solidFill>
              </a:rPr>
              <a:t>Selección de 6 de los 10 riesgos identificados (R01–R10).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y próximos pasos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931920" cy="2514600"/>
          </a:xfrm>
          <a:prstGeom prst="roundRect">
            <a:avLst>
              <a:gd name="adj" fmla="val 2909"/>
            </a:avLst>
          </a:prstGeom>
          <a:solidFill>
            <a:srgbClr val="13306E"/>
          </a:solidFill>
          <a:ln w="12700">
            <a:solidFill>
              <a:srgbClr val="2A4A9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Incluido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520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Registro de proyectos y catálogo simulado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Recomendación de IA validada por Laravel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Presupuestos inmutables con IVA y desglose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Pago simulado, pedido y panel de despliegue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Auditoría y control de acceso por roles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3931920" cy="2514600"/>
          </a:xfrm>
          <a:prstGeom prst="roundRect">
            <a:avLst>
              <a:gd name="adj" fmla="val 2909"/>
            </a:avLst>
          </a:prstGeom>
          <a:solidFill>
            <a:srgbClr val="13306E"/>
          </a:solidFill>
          <a:ln w="12700">
            <a:solidFill>
              <a:srgbClr val="2A4A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</a:rPr>
              <a:t>Fuera de alcance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20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Aprovisionamiento real en AWS, Azure o GCP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Cobros reales con pasarelas bancarias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Scripts Terraform o Ansible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Monitorización en tiempo real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Migración de datos entre proveedores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UT1 cierra con el entorno validado y la documentación lista. La implementación empieza en la UT2.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 9">
  <a:themeElements>
    <a:clrScheme name="Cloud 9">
      <a:dk1>
        <a:srgbClr val="0B1F4B"/>
      </a:dk1>
      <a:lt1>
        <a:srgbClr val="FFFFFF"/>
      </a:lt1>
      <a:dk2>
        <a:srgbClr val="1E3A8A"/>
      </a:dk2>
      <a:lt2>
        <a:srgbClr val="EEF4FB"/>
      </a:lt2>
      <a:accent1>
        <a:srgbClr val="2563EB"/>
      </a:accent1>
      <a:accent2>
        <a:srgbClr val="38BDF8"/>
      </a:accent2>
      <a:accent3>
        <a:srgbClr val="10B981"/>
      </a:accent3>
      <a:accent4>
        <a:srgbClr val="F59E0B"/>
      </a:accent4>
      <a:accent5>
        <a:srgbClr val="EF4444"/>
      </a:accent5>
      <a:accent6>
        <a:srgbClr val="7C3AED"/>
      </a:accent6>
      <a:hlink>
        <a:srgbClr val="2563EB"/>
      </a:hlink>
      <a:folHlink>
        <a:srgbClr val="7C3AED"/>
      </a:folHlink>
    </a:clrScheme>
    <a:fontScheme name="Cloud 9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9 Systems - Entorno de desarrollo y organización del proyecto</dc:title>
  <dc:subject>PptxGenJS Presentation</dc:subject>
  <dc:creator>Cloud 9 Systems</dc:creator>
  <cp:lastModifiedBy>Cloud 9 Systems</cp:lastModifiedBy>
  <cp:revision>1</cp:revision>
  <dcterms:created xsi:type="dcterms:W3CDTF">2026-10-13T10:44:08Z</dcterms:created>
  <dcterms:modified xsi:type="dcterms:W3CDTF">2026-10-13T10:44:08Z</dcterms:modified>
</cp:coreProperties>
</file>